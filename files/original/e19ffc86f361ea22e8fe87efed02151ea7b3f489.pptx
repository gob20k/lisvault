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93" r:id="rId6"/>
    <p:sldId id="294" r:id="rId7"/>
    <p:sldId id="295" r:id="rId8"/>
    <p:sldId id="296" r:id="rId9"/>
    <p:sldId id="297" r:id="rId10"/>
    <p:sldId id="298" r:id="rId11"/>
    <p:sldId id="261" r:id="rId12"/>
    <p:sldId id="299" r:id="rId13"/>
    <p:sldId id="262" r:id="rId14"/>
    <p:sldId id="281" r:id="rId15"/>
    <p:sldId id="300" r:id="rId16"/>
    <p:sldId id="301" r:id="rId17"/>
    <p:sldId id="30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4" autoAdjust="0"/>
    <p:restoredTop sz="94660"/>
  </p:normalViewPr>
  <p:slideViewPr>
    <p:cSldViewPr snapToGrid="0">
      <p:cViewPr varScale="1">
        <p:scale>
          <a:sx n="77" d="100"/>
          <a:sy n="77" d="100"/>
        </p:scale>
        <p:origin x="8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2B3B4-F627-41BE-BBDF-1CAA150F9B1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959FAB2D-E590-4811-AEDB-D5AF4B8141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8ACCAED-16B9-489E-A38D-866E7BBD5A63}"/>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5" name="Footer Placeholder 4">
            <a:extLst>
              <a:ext uri="{FF2B5EF4-FFF2-40B4-BE49-F238E27FC236}">
                <a16:creationId xmlns:a16="http://schemas.microsoft.com/office/drawing/2014/main" id="{9F44A971-C33C-4E06-94B1-01C3DF6436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F5C073E-D8C8-428C-BA2C-0FD08AA59BAF}"/>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17611947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79A53-F163-4D64-BED2-66A8E076304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C2F16CF-8F8A-408F-A7E0-0ED6C91B861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F53E99A-C9D3-4414-B1DD-DCB3864B7346}"/>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5" name="Footer Placeholder 4">
            <a:extLst>
              <a:ext uri="{FF2B5EF4-FFF2-40B4-BE49-F238E27FC236}">
                <a16:creationId xmlns:a16="http://schemas.microsoft.com/office/drawing/2014/main" id="{3493EF1F-0567-4B9F-BF74-8E52EBC61E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DA52D83-A6E8-4026-A69D-6785AB3DE917}"/>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12117998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3C6EA-8BC3-492D-B907-3545B49340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D510E3C7-66F5-4920-B86C-25F742D4F5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F6B2DB-E10B-49A3-85F6-E422792F6701}"/>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5" name="Footer Placeholder 4">
            <a:extLst>
              <a:ext uri="{FF2B5EF4-FFF2-40B4-BE49-F238E27FC236}">
                <a16:creationId xmlns:a16="http://schemas.microsoft.com/office/drawing/2014/main" id="{7847B4F1-DA2D-4980-AF29-74BE3A19062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7EADD84-8B21-48E1-A568-88DFAB7BB318}"/>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13350503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8678-271D-4E6D-9618-3E189519C16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43F1E5B-B61F-4442-B3D4-503C86AE1B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5A543DC-A357-4DCD-9BDF-1C97720E599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65BEA47-9D89-4FD4-B48D-E9C917DD4663}"/>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6" name="Footer Placeholder 5">
            <a:extLst>
              <a:ext uri="{FF2B5EF4-FFF2-40B4-BE49-F238E27FC236}">
                <a16:creationId xmlns:a16="http://schemas.microsoft.com/office/drawing/2014/main" id="{A6F41B11-07B2-4569-BB20-96686D74762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4A9382-ED9E-4CDF-9CC9-C305706887DE}"/>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2594171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3FE66-CFEB-4E3F-B76E-ACE7199B3D0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B512B6-B1FC-45DA-A514-9DF3F47C70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F442D58-F411-4247-9525-884885C04C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FF7B8389-12D4-4EB3-B207-CF37E250E0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B6855F-4F88-46A5-84F2-4CEC069F49E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05945BAC-953C-49DF-9535-5845BD5E83E4}"/>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8" name="Footer Placeholder 7">
            <a:extLst>
              <a:ext uri="{FF2B5EF4-FFF2-40B4-BE49-F238E27FC236}">
                <a16:creationId xmlns:a16="http://schemas.microsoft.com/office/drawing/2014/main" id="{0B06B678-A88C-42AE-A84E-8F64F674A26F}"/>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D587749-6F8B-489B-A0D3-BB8D9D4C8FB4}"/>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1460726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BEBE6-6B25-485B-A0B0-F7736E29A2B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6D5238B1-C550-4458-807E-5AC5200CF461}"/>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4" name="Footer Placeholder 3">
            <a:extLst>
              <a:ext uri="{FF2B5EF4-FFF2-40B4-BE49-F238E27FC236}">
                <a16:creationId xmlns:a16="http://schemas.microsoft.com/office/drawing/2014/main" id="{EB86A1F5-B833-4D68-8921-7F1534588B8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CC7BC96-D67A-4378-9CC5-BD47EBF01FD2}"/>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766012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E387FD-F50D-45A9-B0E9-6BFAA39096C2}"/>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3" name="Footer Placeholder 2">
            <a:extLst>
              <a:ext uri="{FF2B5EF4-FFF2-40B4-BE49-F238E27FC236}">
                <a16:creationId xmlns:a16="http://schemas.microsoft.com/office/drawing/2014/main" id="{CF8972F8-20F1-4231-A4A0-4CDCDACC09B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8EBB710-710E-4BBE-B218-BD32402D051E}"/>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180242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04301-C46A-4836-89F9-A2D86AD288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2097CA5-3907-46CF-B30F-F1ADE1BC5F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D74AB756-5A4A-4E08-809A-E72D460E90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A40D38-4D11-469A-8807-BBA73192410B}"/>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6" name="Footer Placeholder 5">
            <a:extLst>
              <a:ext uri="{FF2B5EF4-FFF2-40B4-BE49-F238E27FC236}">
                <a16:creationId xmlns:a16="http://schemas.microsoft.com/office/drawing/2014/main" id="{11102393-2FD0-499B-A6DD-7641CFB9DF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5E88221-6E6F-4498-AACA-99CB8102D69E}"/>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1142386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F8C539-24E8-44DB-9DCC-7C54DD9DE4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0D1C9A0-F372-4308-9D23-4B1A577C70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3230344-0109-4E8C-8DDE-74EF00ADD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8E0664-35D1-4D58-A957-39B9C8131259}"/>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6" name="Footer Placeholder 5">
            <a:extLst>
              <a:ext uri="{FF2B5EF4-FFF2-40B4-BE49-F238E27FC236}">
                <a16:creationId xmlns:a16="http://schemas.microsoft.com/office/drawing/2014/main" id="{34BC34D3-5710-40B2-BBC9-DC09DC008C1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CBCD29C-6ACF-4341-83AD-8DC5961EE24F}"/>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36473448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468F4-C285-4575-99EE-9162D1C9DAA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F6C4333-9C8E-44F9-AA1A-F937EBF8CB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2A413EA-705C-43EA-88E5-1ACAC2756E4E}"/>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5" name="Footer Placeholder 4">
            <a:extLst>
              <a:ext uri="{FF2B5EF4-FFF2-40B4-BE49-F238E27FC236}">
                <a16:creationId xmlns:a16="http://schemas.microsoft.com/office/drawing/2014/main" id="{1D2A02FC-8F39-49DE-B624-9A3EE2EF5DA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3F1EB25-F215-4742-81A2-15474BCD295A}"/>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2053506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74203B-3C24-426F-B0DD-44248C462C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A018E47-A396-45A5-8FB6-05B18337262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4A70D6A-7A6B-4C58-B7E7-8D09D37BBDC8}"/>
              </a:ext>
            </a:extLst>
          </p:cNvPr>
          <p:cNvSpPr>
            <a:spLocks noGrp="1"/>
          </p:cNvSpPr>
          <p:nvPr>
            <p:ph type="dt" sz="half" idx="10"/>
          </p:nvPr>
        </p:nvSpPr>
        <p:spPr/>
        <p:txBody>
          <a:bodyPr/>
          <a:lstStyle/>
          <a:p>
            <a:fld id="{39981DA3-AE42-4AB7-9F79-B2BD4D4D5506}" type="datetimeFigureOut">
              <a:rPr lang="en-GB" smtClean="0"/>
              <a:t>13/09/2023</a:t>
            </a:fld>
            <a:endParaRPr lang="en-GB"/>
          </a:p>
        </p:txBody>
      </p:sp>
      <p:sp>
        <p:nvSpPr>
          <p:cNvPr id="5" name="Footer Placeholder 4">
            <a:extLst>
              <a:ext uri="{FF2B5EF4-FFF2-40B4-BE49-F238E27FC236}">
                <a16:creationId xmlns:a16="http://schemas.microsoft.com/office/drawing/2014/main" id="{C7B2FC01-44CD-4B69-8900-B1B90DF7B0B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24E2405-775F-4385-AC55-F4185B2C7998}"/>
              </a:ext>
            </a:extLst>
          </p:cNvPr>
          <p:cNvSpPr>
            <a:spLocks noGrp="1"/>
          </p:cNvSpPr>
          <p:nvPr>
            <p:ph type="sldNum" sz="quarter" idx="12"/>
          </p:nvPr>
        </p:nvSpPr>
        <p:spPr/>
        <p:txBody>
          <a:bodyPr/>
          <a:lstStyle/>
          <a:p>
            <a:fld id="{FB05CC41-C789-494C-B230-BAC51EA07FBE}" type="slidenum">
              <a:rPr lang="en-GB" smtClean="0"/>
              <a:t>‹#›</a:t>
            </a:fld>
            <a:endParaRPr lang="en-GB"/>
          </a:p>
        </p:txBody>
      </p:sp>
    </p:spTree>
    <p:extLst>
      <p:ext uri="{BB962C8B-B14F-4D97-AF65-F5344CB8AC3E}">
        <p14:creationId xmlns:p14="http://schemas.microsoft.com/office/powerpoint/2010/main" val="2969153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59CF142-2C0F-4C24-A4B5-D84CB3C2BB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C883964-13E6-42A9-8A31-9541873309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758A4CF-677F-4EF6-97B9-BCE2E0FCB9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81DA3-AE42-4AB7-9F79-B2BD4D4D5506}" type="datetimeFigureOut">
              <a:rPr lang="en-GB" smtClean="0"/>
              <a:t>13/09/2023</a:t>
            </a:fld>
            <a:endParaRPr lang="en-GB"/>
          </a:p>
        </p:txBody>
      </p:sp>
      <p:sp>
        <p:nvSpPr>
          <p:cNvPr id="5" name="Footer Placeholder 4">
            <a:extLst>
              <a:ext uri="{FF2B5EF4-FFF2-40B4-BE49-F238E27FC236}">
                <a16:creationId xmlns:a16="http://schemas.microsoft.com/office/drawing/2014/main" id="{8F2349D5-9362-422B-8894-BEFD62122D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F4D61BB-C77D-4A37-A4A5-BEDDBB495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05CC41-C789-494C-B230-BAC51EA07FBE}" type="slidenum">
              <a:rPr lang="en-GB" smtClean="0"/>
              <a:t>‹#›</a:t>
            </a:fld>
            <a:endParaRPr lang="en-GB"/>
          </a:p>
        </p:txBody>
      </p:sp>
    </p:spTree>
    <p:extLst>
      <p:ext uri="{BB962C8B-B14F-4D97-AF65-F5344CB8AC3E}">
        <p14:creationId xmlns:p14="http://schemas.microsoft.com/office/powerpoint/2010/main" val="34920551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9095C1F4-AE7F-44E4-8693-40D3D683114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3" name="Group 32">
            <a:extLst>
              <a:ext uri="{FF2B5EF4-FFF2-40B4-BE49-F238E27FC236}">
                <a16:creationId xmlns:a16="http://schemas.microsoft.com/office/drawing/2014/main" id="{8734DDD3-F723-4DD3-8ABE-EC0B2AC87D74}"/>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34" name="Straight Connector 33">
              <a:extLst>
                <a:ext uri="{FF2B5EF4-FFF2-40B4-BE49-F238E27FC236}">
                  <a16:creationId xmlns:a16="http://schemas.microsoft.com/office/drawing/2014/main" id="{F7C8EA93-3210-4C62-99E9-153C275E3A87}"/>
                </a:ext>
                <a:ext uri="{C183D7F6-B498-43B3-948B-1728B52AA6E4}">
                  <adec:decorative xmlns:adec="http://schemas.microsoft.com/office/drawing/2017/decorative" xmlns=""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5EB7D2A2-F448-44D4-938C-DC84CBCB3B1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7" name="Rectangle 36">
            <a:extLst>
              <a:ext uri="{FF2B5EF4-FFF2-40B4-BE49-F238E27FC236}">
                <a16:creationId xmlns:a16="http://schemas.microsoft.com/office/drawing/2014/main" id="{871AEA07-1E14-44B4-8E55-64EF049CD66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A43804-D049-4829-8900-81EE04A0FF7C}"/>
              </a:ext>
            </a:extLst>
          </p:cNvPr>
          <p:cNvSpPr>
            <a:spLocks noGrp="1"/>
          </p:cNvSpPr>
          <p:nvPr>
            <p:ph type="ctrTitle"/>
          </p:nvPr>
        </p:nvSpPr>
        <p:spPr>
          <a:xfrm>
            <a:off x="1524000" y="1584683"/>
            <a:ext cx="9144000" cy="2551829"/>
          </a:xfrm>
        </p:spPr>
        <p:txBody>
          <a:bodyPr anchor="ctr">
            <a:normAutofit/>
          </a:bodyPr>
          <a:lstStyle/>
          <a:p>
            <a:r>
              <a:rPr lang="en-GB" sz="6600" b="1" dirty="0"/>
              <a:t/>
            </a:r>
            <a:br>
              <a:rPr lang="en-GB" sz="6600" b="1" dirty="0"/>
            </a:br>
            <a:r>
              <a:rPr lang="en-GB" sz="6600" b="1" dirty="0">
                <a:solidFill>
                  <a:srgbClr val="0070C0"/>
                </a:solidFill>
              </a:rPr>
              <a:t>Web API</a:t>
            </a:r>
            <a:endParaRPr lang="en-GB" sz="4800" b="1" dirty="0">
              <a:solidFill>
                <a:srgbClr val="0070C0"/>
              </a:solidFill>
            </a:endParaRPr>
          </a:p>
        </p:txBody>
      </p:sp>
    </p:spTree>
    <p:extLst>
      <p:ext uri="{BB962C8B-B14F-4D97-AF65-F5344CB8AC3E}">
        <p14:creationId xmlns:p14="http://schemas.microsoft.com/office/powerpoint/2010/main" val="2082206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97569-7FB7-4A4B-8403-92BE6EAFFA51}"/>
              </a:ext>
            </a:extLst>
          </p:cNvPr>
          <p:cNvSpPr>
            <a:spLocks noGrp="1"/>
          </p:cNvSpPr>
          <p:nvPr>
            <p:ph type="ctrTitle"/>
          </p:nvPr>
        </p:nvSpPr>
        <p:spPr>
          <a:xfrm>
            <a:off x="1524000" y="1122363"/>
            <a:ext cx="9144000" cy="1067944"/>
          </a:xfrm>
        </p:spPr>
        <p:txBody>
          <a:bodyPr/>
          <a:lstStyle/>
          <a:p>
            <a:r>
              <a:rPr lang="en-GB" b="1" dirty="0"/>
              <a:t>What is API? </a:t>
            </a:r>
          </a:p>
        </p:txBody>
      </p:sp>
      <p:sp>
        <p:nvSpPr>
          <p:cNvPr id="3" name="Subtitle 2">
            <a:extLst>
              <a:ext uri="{FF2B5EF4-FFF2-40B4-BE49-F238E27FC236}">
                <a16:creationId xmlns:a16="http://schemas.microsoft.com/office/drawing/2014/main" id="{C262BEE2-EFB5-47CB-926E-9FCF56851264}"/>
              </a:ext>
            </a:extLst>
          </p:cNvPr>
          <p:cNvSpPr>
            <a:spLocks noGrp="1"/>
          </p:cNvSpPr>
          <p:nvPr>
            <p:ph type="subTitle" idx="1"/>
          </p:nvPr>
        </p:nvSpPr>
        <p:spPr>
          <a:xfrm>
            <a:off x="1524000" y="2190307"/>
            <a:ext cx="9144000" cy="4157484"/>
          </a:xfrm>
        </p:spPr>
        <p:txBody>
          <a:bodyPr>
            <a:normAutofit lnSpcReduction="10000"/>
          </a:bodyPr>
          <a:lstStyle/>
          <a:p>
            <a:pPr algn="l"/>
            <a:endParaRPr lang="en-GB" dirty="0"/>
          </a:p>
          <a:p>
            <a:pPr algn="just"/>
            <a:r>
              <a:rPr lang="en-GB" dirty="0">
                <a:latin typeface="Arial" panose="020B0604020202020204" pitchFamily="34" charset="0"/>
                <a:cs typeface="Arial" panose="020B0604020202020204" pitchFamily="34" charset="0"/>
              </a:rPr>
              <a:t>APIs stand for </a:t>
            </a:r>
            <a:r>
              <a:rPr lang="en-GB" b="1" dirty="0">
                <a:latin typeface="Arial" panose="020B0604020202020204" pitchFamily="34" charset="0"/>
                <a:cs typeface="Arial" panose="020B0604020202020204" pitchFamily="34" charset="0"/>
              </a:rPr>
              <a:t>Application Programming Interfaces</a:t>
            </a:r>
            <a:r>
              <a:rPr lang="en-GB" dirty="0">
                <a:latin typeface="Arial" panose="020B0604020202020204" pitchFamily="34" charset="0"/>
                <a:cs typeface="Arial" panose="020B0604020202020204" pitchFamily="34" charset="0"/>
              </a:rPr>
              <a:t>. APIs can be considered as intermediaries or messengers that facilitate communication between two applications or between a user and an application. </a:t>
            </a:r>
          </a:p>
          <a:p>
            <a:pPr algn="just"/>
            <a:endParaRPr lang="en-GB" dirty="0">
              <a:latin typeface="Arial" panose="020B0604020202020204" pitchFamily="34" charset="0"/>
              <a:cs typeface="Arial" panose="020B0604020202020204" pitchFamily="34" charset="0"/>
            </a:endParaRPr>
          </a:p>
          <a:p>
            <a:pPr algn="just"/>
            <a:r>
              <a:rPr lang="en-GB" b="1" dirty="0">
                <a:latin typeface="Arial" panose="020B0604020202020204" pitchFamily="34" charset="0"/>
                <a:cs typeface="Arial" panose="020B0604020202020204" pitchFamily="34" charset="0"/>
              </a:rPr>
              <a:t>API Function</a:t>
            </a:r>
          </a:p>
          <a:p>
            <a:pPr algn="just"/>
            <a:r>
              <a:rPr lang="en-GB" dirty="0">
                <a:latin typeface="Arial" panose="020B0604020202020204" pitchFamily="34" charset="0"/>
                <a:cs typeface="Arial" panose="020B0604020202020204" pitchFamily="34" charset="0"/>
              </a:rPr>
              <a:t>The API receives a request and gives a response in return. For instance, when a user browses web applications like Facebook, YouTube, etc the API receives a request from the user and performs the required functionality which is the response.</a:t>
            </a:r>
            <a:endParaRPr lang="en-GB" dirty="0"/>
          </a:p>
        </p:txBody>
      </p:sp>
    </p:spTree>
    <p:extLst>
      <p:ext uri="{BB962C8B-B14F-4D97-AF65-F5344CB8AC3E}">
        <p14:creationId xmlns:p14="http://schemas.microsoft.com/office/powerpoint/2010/main" val="35539006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5FEA0-4A7C-4610-B970-514BC583B300}"/>
              </a:ext>
            </a:extLst>
          </p:cNvPr>
          <p:cNvSpPr>
            <a:spLocks noGrp="1"/>
          </p:cNvSpPr>
          <p:nvPr>
            <p:ph type="ctrTitle"/>
          </p:nvPr>
        </p:nvSpPr>
        <p:spPr>
          <a:xfrm>
            <a:off x="1616765" y="207964"/>
            <a:ext cx="9144000" cy="1104002"/>
          </a:xfrm>
        </p:spPr>
        <p:txBody>
          <a:bodyPr/>
          <a:lstStyle/>
          <a:p>
            <a:r>
              <a:rPr lang="en-GB" b="1" dirty="0"/>
              <a:t>WHAT ARE WEB APIS?</a:t>
            </a:r>
          </a:p>
        </p:txBody>
      </p:sp>
      <p:sp>
        <p:nvSpPr>
          <p:cNvPr id="3" name="Subtitle 2">
            <a:extLst>
              <a:ext uri="{FF2B5EF4-FFF2-40B4-BE49-F238E27FC236}">
                <a16:creationId xmlns:a16="http://schemas.microsoft.com/office/drawing/2014/main" id="{617A021A-9AF0-4370-88C3-B158BDC0E3BC}"/>
              </a:ext>
            </a:extLst>
          </p:cNvPr>
          <p:cNvSpPr>
            <a:spLocks noGrp="1"/>
          </p:cNvSpPr>
          <p:nvPr>
            <p:ph type="subTitle" idx="1"/>
          </p:nvPr>
        </p:nvSpPr>
        <p:spPr>
          <a:xfrm>
            <a:off x="1921565" y="1828800"/>
            <a:ext cx="9143999" cy="3575531"/>
          </a:xfrm>
        </p:spPr>
        <p:txBody>
          <a:bodyPr>
            <a:normAutofit/>
          </a:bodyPr>
          <a:lstStyle/>
          <a:p>
            <a:pPr algn="just"/>
            <a:r>
              <a:rPr lang="en-GB" dirty="0"/>
              <a:t>Web API is an open-source framework that allows developers to build Web Services. This framework implements HTTP protocols and hence they are also known as HTTP APIs. Web APIs allow interaction or communication between users and a device or between two applications.</a:t>
            </a:r>
          </a:p>
          <a:p>
            <a:pPr algn="just"/>
            <a:endParaRPr lang="en-GB" dirty="0"/>
          </a:p>
          <a:p>
            <a:pPr algn="just"/>
            <a:r>
              <a:rPr lang="en-GB" dirty="0"/>
              <a:t>Web Services built using APIs help to improve the ease of use. </a:t>
            </a:r>
          </a:p>
          <a:p>
            <a:pPr algn="just"/>
            <a:r>
              <a:rPr lang="en-GB" dirty="0"/>
              <a:t>Programming languages used to created Web API include Java, .NET, etc. JavaScript can be used to connect to Web APIs</a:t>
            </a:r>
          </a:p>
        </p:txBody>
      </p:sp>
    </p:spTree>
    <p:extLst>
      <p:ext uri="{BB962C8B-B14F-4D97-AF65-F5344CB8AC3E}">
        <p14:creationId xmlns:p14="http://schemas.microsoft.com/office/powerpoint/2010/main" val="24604832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FEATURES OF WEB API</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marL="342900" indent="-342900" algn="l">
              <a:buFont typeface="Arial" panose="020B0604020202020204" pitchFamily="34" charset="0"/>
              <a:buChar char="•"/>
            </a:pPr>
            <a:r>
              <a:rPr lang="en-GB" dirty="0"/>
              <a:t>It supports basic CRUD (Create Read Update and Delete) operations.</a:t>
            </a:r>
          </a:p>
          <a:p>
            <a:pPr marL="342900" indent="-342900" algn="l">
              <a:buFont typeface="Arial" panose="020B0604020202020204" pitchFamily="34" charset="0"/>
              <a:buChar char="•"/>
            </a:pPr>
            <a:r>
              <a:rPr lang="en-GB" dirty="0"/>
              <a:t>It also supports multiple text formats like XML and JSON.</a:t>
            </a:r>
          </a:p>
          <a:p>
            <a:pPr marL="342900" indent="-342900" algn="l">
              <a:buFont typeface="Arial" panose="020B0604020202020204" pitchFamily="34" charset="0"/>
              <a:buChar char="•"/>
            </a:pPr>
            <a:r>
              <a:rPr lang="en-GB" dirty="0"/>
              <a:t>Responses have HTTP status code which helps users to understand whether the API request was successful or not and whether the response was received or not.</a:t>
            </a:r>
          </a:p>
          <a:p>
            <a:pPr marL="342900" indent="-342900" algn="l">
              <a:buFont typeface="Arial" panose="020B0604020202020204" pitchFamily="34" charset="0"/>
              <a:buChar char="•"/>
            </a:pPr>
            <a:r>
              <a:rPr lang="en-GB" dirty="0"/>
              <a:t>One popular Web API is the Active Server Pages Network Enabled Technologies (ASP.NET Web) API.</a:t>
            </a:r>
          </a:p>
          <a:p>
            <a:pPr marL="342900" indent="-342900" algn="l">
              <a:buFont typeface="Arial" panose="020B0604020202020204" pitchFamily="34" charset="0"/>
              <a:buChar char="•"/>
            </a:pPr>
            <a:r>
              <a:rPr lang="en-GB" dirty="0"/>
              <a:t>It is open-source.</a:t>
            </a:r>
          </a:p>
        </p:txBody>
      </p:sp>
    </p:spTree>
    <p:extLst>
      <p:ext uri="{BB962C8B-B14F-4D97-AF65-F5344CB8AC3E}">
        <p14:creationId xmlns:p14="http://schemas.microsoft.com/office/powerpoint/2010/main" val="336905363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HTTP METHODS</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algn="l"/>
            <a:r>
              <a:rPr lang="en-GB" dirty="0"/>
              <a:t>HTTP methods are different functionalities of the HTTP protocol which helps to interact with the web. The different HTTP methods are as follows:</a:t>
            </a:r>
          </a:p>
          <a:p>
            <a:pPr algn="l"/>
            <a:endParaRPr lang="en-GB" dirty="0"/>
          </a:p>
          <a:p>
            <a:pPr marL="2628900" lvl="5" indent="-342900" algn="l">
              <a:buFont typeface="Arial" panose="020B0604020202020204" pitchFamily="34" charset="0"/>
              <a:buChar char="•"/>
            </a:pPr>
            <a:r>
              <a:rPr lang="en-GB" sz="2400" dirty="0"/>
              <a:t>HTTP GET </a:t>
            </a:r>
          </a:p>
          <a:p>
            <a:pPr marL="2628900" lvl="5" indent="-342900" algn="l">
              <a:buFont typeface="Arial" panose="020B0604020202020204" pitchFamily="34" charset="0"/>
              <a:buChar char="•"/>
            </a:pPr>
            <a:r>
              <a:rPr lang="en-GB" sz="2400" dirty="0"/>
              <a:t>HTTP POST </a:t>
            </a:r>
          </a:p>
          <a:p>
            <a:pPr marL="2628900" lvl="5" indent="-342900" algn="l">
              <a:buFont typeface="Arial" panose="020B0604020202020204" pitchFamily="34" charset="0"/>
              <a:buChar char="•"/>
            </a:pPr>
            <a:r>
              <a:rPr lang="en-GB" sz="2400" dirty="0"/>
              <a:t>HTTP PUT</a:t>
            </a:r>
          </a:p>
          <a:p>
            <a:pPr marL="2628900" lvl="5" indent="-342900" algn="l">
              <a:buFont typeface="Arial" panose="020B0604020202020204" pitchFamily="34" charset="0"/>
              <a:buChar char="•"/>
            </a:pPr>
            <a:r>
              <a:rPr lang="en-GB" sz="2400" dirty="0"/>
              <a:t>HTTP DELETE </a:t>
            </a:r>
          </a:p>
          <a:p>
            <a:pPr marL="2628900" lvl="5" indent="-342900" algn="l">
              <a:buFont typeface="Arial" panose="020B0604020202020204" pitchFamily="34" charset="0"/>
              <a:buChar char="•"/>
            </a:pPr>
            <a:r>
              <a:rPr lang="en-GB" sz="2400" dirty="0"/>
              <a:t>HTTP PATCH</a:t>
            </a:r>
          </a:p>
        </p:txBody>
      </p:sp>
    </p:spTree>
    <p:extLst>
      <p:ext uri="{BB962C8B-B14F-4D97-AF65-F5344CB8AC3E}">
        <p14:creationId xmlns:p14="http://schemas.microsoft.com/office/powerpoint/2010/main" val="14145111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HTTP METHODS - </a:t>
            </a:r>
            <a:r>
              <a:rPr lang="en-GB" sz="4800" b="1" dirty="0">
                <a:solidFill>
                  <a:srgbClr val="0070C0"/>
                </a:solidFill>
              </a:rPr>
              <a:t>HTTP GET </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algn="just">
              <a:lnSpc>
                <a:spcPct val="150000"/>
              </a:lnSpc>
            </a:pPr>
            <a:r>
              <a:rPr lang="en-GB" dirty="0">
                <a:solidFill>
                  <a:srgbClr val="0070C0"/>
                </a:solidFill>
              </a:rPr>
              <a:t>HTTP GET </a:t>
            </a:r>
            <a:r>
              <a:rPr lang="en-GB" dirty="0"/>
              <a:t>- GET Requests are generally used to request a resource from a web application and not to modify it in any way. GET requests are considered to be safe methods since they do not allow any modification of a Web Resource.</a:t>
            </a:r>
          </a:p>
          <a:p>
            <a:pPr lvl="5" algn="l"/>
            <a:endParaRPr lang="en-GB" sz="2400" dirty="0"/>
          </a:p>
        </p:txBody>
      </p:sp>
    </p:spTree>
    <p:extLst>
      <p:ext uri="{BB962C8B-B14F-4D97-AF65-F5344CB8AC3E}">
        <p14:creationId xmlns:p14="http://schemas.microsoft.com/office/powerpoint/2010/main" val="256354215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HTTP METHODS - </a:t>
            </a:r>
            <a:r>
              <a:rPr lang="en-GB" sz="4800" b="1" dirty="0">
                <a:solidFill>
                  <a:srgbClr val="0070C0"/>
                </a:solidFill>
              </a:rPr>
              <a:t>HTTP POST </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algn="just">
              <a:lnSpc>
                <a:spcPct val="150000"/>
              </a:lnSpc>
            </a:pPr>
            <a:r>
              <a:rPr lang="en-GB" dirty="0">
                <a:solidFill>
                  <a:srgbClr val="0070C0"/>
                </a:solidFill>
              </a:rPr>
              <a:t>HTTP POST - </a:t>
            </a:r>
            <a:r>
              <a:rPr lang="en-GB" dirty="0"/>
              <a:t>The POST method is used to create new resources. For instance, POST methods can be used to insert new data into the database.</a:t>
            </a:r>
            <a:endParaRPr lang="en-GB" sz="2400" dirty="0"/>
          </a:p>
        </p:txBody>
      </p:sp>
    </p:spTree>
    <p:extLst>
      <p:ext uri="{BB962C8B-B14F-4D97-AF65-F5344CB8AC3E}">
        <p14:creationId xmlns:p14="http://schemas.microsoft.com/office/powerpoint/2010/main" val="368912559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HTTP METHODS - </a:t>
            </a:r>
            <a:r>
              <a:rPr lang="en-GB" sz="4800" b="1" dirty="0">
                <a:solidFill>
                  <a:srgbClr val="0070C0"/>
                </a:solidFill>
              </a:rPr>
              <a:t>HTTP PUT </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algn="just">
              <a:lnSpc>
                <a:spcPct val="150000"/>
              </a:lnSpc>
            </a:pPr>
            <a:r>
              <a:rPr lang="en-GB" dirty="0">
                <a:solidFill>
                  <a:srgbClr val="0070C0"/>
                </a:solidFill>
              </a:rPr>
              <a:t>HTTP PUT - </a:t>
            </a:r>
            <a:r>
              <a:rPr lang="en-GB" dirty="0"/>
              <a:t>The PUT method is generally used to modify existing resources entirely on the web application. PUT requests are generally made on a single resource whereas POST requests are made on a collection of resources.</a:t>
            </a:r>
            <a:endParaRPr lang="en-GB" sz="2400" dirty="0"/>
          </a:p>
        </p:txBody>
      </p:sp>
    </p:spTree>
    <p:extLst>
      <p:ext uri="{BB962C8B-B14F-4D97-AF65-F5344CB8AC3E}">
        <p14:creationId xmlns:p14="http://schemas.microsoft.com/office/powerpoint/2010/main" val="42157096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HTTP METHODS - </a:t>
            </a:r>
            <a:r>
              <a:rPr lang="en-GB" sz="4800" b="1" dirty="0">
                <a:solidFill>
                  <a:srgbClr val="0070C0"/>
                </a:solidFill>
              </a:rPr>
              <a:t>HTTP DELETE </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algn="just">
              <a:lnSpc>
                <a:spcPct val="150000"/>
              </a:lnSpc>
            </a:pPr>
            <a:r>
              <a:rPr lang="en-GB" dirty="0">
                <a:solidFill>
                  <a:srgbClr val="0070C0"/>
                </a:solidFill>
              </a:rPr>
              <a:t>HTTP DELETE - </a:t>
            </a:r>
            <a:r>
              <a:rPr lang="en-GB" dirty="0"/>
              <a:t>As the name suggests, DELETE requests are used to delete an existing resource from a web application.</a:t>
            </a:r>
            <a:endParaRPr lang="en-GB" sz="2400" dirty="0"/>
          </a:p>
        </p:txBody>
      </p:sp>
    </p:spTree>
    <p:extLst>
      <p:ext uri="{BB962C8B-B14F-4D97-AF65-F5344CB8AC3E}">
        <p14:creationId xmlns:p14="http://schemas.microsoft.com/office/powerpoint/2010/main" val="35926313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417982" y="225126"/>
            <a:ext cx="9144000" cy="623013"/>
          </a:xfrm>
        </p:spPr>
        <p:txBody>
          <a:bodyPr>
            <a:normAutofit fontScale="90000"/>
          </a:bodyPr>
          <a:lstStyle/>
          <a:p>
            <a:r>
              <a:rPr lang="en-GB" sz="4800" b="1" dirty="0"/>
              <a:t>HTTP METHODS - </a:t>
            </a:r>
            <a:r>
              <a:rPr lang="en-GB" sz="4800" b="1" dirty="0">
                <a:solidFill>
                  <a:srgbClr val="0070C0"/>
                </a:solidFill>
              </a:rPr>
              <a:t>HTTP PATCH </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417982" y="1473666"/>
            <a:ext cx="8945218" cy="4662089"/>
          </a:xfrm>
        </p:spPr>
        <p:txBody>
          <a:bodyPr>
            <a:normAutofit/>
          </a:bodyPr>
          <a:lstStyle/>
          <a:p>
            <a:pPr algn="just">
              <a:lnSpc>
                <a:spcPct val="150000"/>
              </a:lnSpc>
            </a:pPr>
            <a:r>
              <a:rPr lang="en-GB" dirty="0">
                <a:solidFill>
                  <a:srgbClr val="0070C0"/>
                </a:solidFill>
              </a:rPr>
              <a:t>HTTP PATCH - </a:t>
            </a:r>
            <a:r>
              <a:rPr lang="en-GB" dirty="0"/>
              <a:t>The PATCH method is used to partially update an existing resource. For example, if a user login has been created and you want to change the password, the patch method is used since the whole row has not been modified but only the password section has been modified.</a:t>
            </a:r>
            <a:endParaRPr lang="en-GB" sz="2400" dirty="0"/>
          </a:p>
        </p:txBody>
      </p:sp>
    </p:spTree>
    <p:extLst>
      <p:ext uri="{BB962C8B-B14F-4D97-AF65-F5344CB8AC3E}">
        <p14:creationId xmlns:p14="http://schemas.microsoft.com/office/powerpoint/2010/main" val="2365030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524000" y="211873"/>
            <a:ext cx="9144000" cy="795292"/>
          </a:xfrm>
        </p:spPr>
        <p:txBody>
          <a:bodyPr>
            <a:normAutofit fontScale="90000"/>
          </a:bodyPr>
          <a:lstStyle/>
          <a:p>
            <a:r>
              <a:rPr lang="en-GB" b="1" dirty="0"/>
              <a:t>CONNECTING TO A WEB API</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524000" y="1338146"/>
            <a:ext cx="9144000" cy="3326620"/>
          </a:xfrm>
        </p:spPr>
        <p:txBody>
          <a:bodyPr>
            <a:normAutofit lnSpcReduction="10000"/>
          </a:bodyPr>
          <a:lstStyle/>
          <a:p>
            <a:pPr algn="l"/>
            <a:r>
              <a:rPr lang="en-GB" dirty="0"/>
              <a:t>S</a:t>
            </a:r>
            <a:r>
              <a:rPr lang="en-GB" sz="2400" dirty="0"/>
              <a:t>uppose our objective is to connect to a bookstore web application and retrieve book details from its API.</a:t>
            </a:r>
          </a:p>
          <a:p>
            <a:pPr algn="l"/>
            <a:endParaRPr lang="en-GB" dirty="0"/>
          </a:p>
          <a:p>
            <a:pPr algn="l"/>
            <a:r>
              <a:rPr lang="en-GB" sz="2400" dirty="0"/>
              <a:t>To connect to the Web API we require the API endpoint. Let’s say the URL of the API endpoint is </a:t>
            </a:r>
            <a:r>
              <a:rPr lang="en-GB" sz="2400" b="1" dirty="0"/>
              <a:t>https://samplebookstore.com/books</a:t>
            </a:r>
            <a:r>
              <a:rPr lang="en-GB" sz="2400" dirty="0"/>
              <a:t>. Clicking on this link displays an array of objects in JSON format.</a:t>
            </a:r>
          </a:p>
          <a:p>
            <a:pPr algn="l"/>
            <a:endParaRPr lang="en-GB" sz="2400" dirty="0"/>
          </a:p>
          <a:p>
            <a:pPr algn="l"/>
            <a:r>
              <a:rPr lang="en-GB" sz="2400" dirty="0"/>
              <a:t>Now we will write our script.js file to connect to the API endpoint and retrieve data from it.</a:t>
            </a:r>
          </a:p>
        </p:txBody>
      </p:sp>
    </p:spTree>
    <p:extLst>
      <p:ext uri="{BB962C8B-B14F-4D97-AF65-F5344CB8AC3E}">
        <p14:creationId xmlns:p14="http://schemas.microsoft.com/office/powerpoint/2010/main" val="3339282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524000" y="211873"/>
            <a:ext cx="9144000" cy="795292"/>
          </a:xfrm>
        </p:spPr>
        <p:txBody>
          <a:bodyPr>
            <a:normAutofit fontScale="90000"/>
          </a:bodyPr>
          <a:lstStyle/>
          <a:p>
            <a:r>
              <a:rPr lang="en-GB" b="1"/>
              <a:t>CONNECTING TO A WEB API</a:t>
            </a:r>
            <a:endParaRPr lang="en-GB" b="1" dirty="0"/>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524000" y="1338145"/>
            <a:ext cx="9144000" cy="5307981"/>
          </a:xfrm>
        </p:spPr>
        <p:txBody>
          <a:bodyPr>
            <a:normAutofit lnSpcReduction="10000"/>
          </a:bodyPr>
          <a:lstStyle/>
          <a:p>
            <a:pPr algn="l"/>
            <a:endParaRPr lang="en-GB" sz="2400" dirty="0"/>
          </a:p>
          <a:p>
            <a:pPr algn="l"/>
            <a:endParaRPr lang="en-GB" dirty="0"/>
          </a:p>
          <a:p>
            <a:pPr algn="l"/>
            <a:endParaRPr lang="en-GB" sz="2400" dirty="0"/>
          </a:p>
          <a:p>
            <a:pPr algn="l"/>
            <a:endParaRPr lang="en-GB" dirty="0"/>
          </a:p>
          <a:p>
            <a:pPr algn="l"/>
            <a:endParaRPr lang="en-GB" sz="2400" dirty="0"/>
          </a:p>
          <a:p>
            <a:pPr algn="l"/>
            <a:endParaRPr lang="en-GB" dirty="0"/>
          </a:p>
          <a:p>
            <a:pPr algn="l"/>
            <a:endParaRPr lang="en-GB" sz="2400" dirty="0"/>
          </a:p>
          <a:p>
            <a:pPr algn="l"/>
            <a:endParaRPr lang="en-GB" dirty="0"/>
          </a:p>
          <a:p>
            <a:pPr algn="l"/>
            <a:endParaRPr lang="en-GB" sz="2400" dirty="0"/>
          </a:p>
          <a:p>
            <a:pPr algn="l"/>
            <a:endParaRPr lang="en-GB" dirty="0"/>
          </a:p>
          <a:p>
            <a:pPr algn="l"/>
            <a:endParaRPr lang="en-GB" sz="2400" dirty="0"/>
          </a:p>
          <a:p>
            <a:pPr algn="l"/>
            <a:r>
              <a:rPr lang="en-GB" sz="2400" dirty="0"/>
              <a:t>This is how our script.js file looks. The file helps to establish a connection to the API endpoint and retrieve the title of books.</a:t>
            </a:r>
          </a:p>
        </p:txBody>
      </p:sp>
      <p:pic>
        <p:nvPicPr>
          <p:cNvPr id="1026" name="Picture 2">
            <a:extLst>
              <a:ext uri="{FF2B5EF4-FFF2-40B4-BE49-F238E27FC236}">
                <a16:creationId xmlns:a16="http://schemas.microsoft.com/office/drawing/2014/main" id="{E40BD829-CE8D-C5EB-E7D0-F1FD3B4F2C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31235" y="1343024"/>
            <a:ext cx="9143999" cy="41768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648807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656522" y="218661"/>
            <a:ext cx="9144000" cy="775543"/>
          </a:xfrm>
        </p:spPr>
        <p:txBody>
          <a:bodyPr>
            <a:normAutofit fontScale="90000"/>
          </a:bodyPr>
          <a:lstStyle/>
          <a:p>
            <a:r>
              <a:rPr lang="en-GB" b="1" dirty="0"/>
              <a:t>How the Codes work</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073426" y="1550505"/>
            <a:ext cx="9899374" cy="5088834"/>
          </a:xfrm>
        </p:spPr>
        <p:txBody>
          <a:bodyPr>
            <a:normAutofit fontScale="92500"/>
          </a:bodyPr>
          <a:lstStyle/>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Initially, we create a request variable and assign an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XMLHttpRequest</a:t>
            </a: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 object to it. After that we open a new connection to the API endpoint with the open() method where we specify the details of the URL API endpoint and the type of request as GET. Once the request completes, then we access the data using the onload() function.</a:t>
            </a:r>
          </a:p>
          <a:p>
            <a:pPr algn="l"/>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We retrieve the data by parsing the response received using the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JSON.parse</a:t>
            </a: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 method and we use the data variable to store all the JSON data as an array of JSON objects.</a:t>
            </a:r>
          </a:p>
          <a:p>
            <a:pPr algn="l"/>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Now using our if statement, we check whether our request was successful or not. If our request was successful we use a ‘for loop’ to loop through the JSON objects and retrieve the book title and display it in the console.</a:t>
            </a:r>
          </a:p>
          <a:p>
            <a:pPr algn="l"/>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Finally, we send our request to the web application.</a:t>
            </a:r>
          </a:p>
        </p:txBody>
      </p:sp>
    </p:spTree>
    <p:extLst>
      <p:ext uri="{BB962C8B-B14F-4D97-AF65-F5344CB8AC3E}">
        <p14:creationId xmlns:p14="http://schemas.microsoft.com/office/powerpoint/2010/main" val="122164843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524000" y="114099"/>
            <a:ext cx="9144000" cy="787050"/>
          </a:xfrm>
        </p:spPr>
        <p:txBody>
          <a:bodyPr>
            <a:normAutofit fontScale="90000"/>
          </a:bodyPr>
          <a:lstStyle/>
          <a:p>
            <a:r>
              <a:rPr lang="en-GB" sz="5400" b="1" dirty="0"/>
              <a:t>USES OF A WEB API</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192696" y="1020417"/>
            <a:ext cx="9780104" cy="4784035"/>
          </a:xfrm>
        </p:spPr>
        <p:txBody>
          <a:bodyPr>
            <a:normAutofit fontScale="92500"/>
          </a:bodyPr>
          <a:lstStyle/>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Some of the important uses of Web APIs are as follows:</a:t>
            </a:r>
          </a:p>
          <a:p>
            <a:pPr algn="l"/>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indent="-342900" algn="l">
              <a:buFont typeface="Arial" panose="020B0604020202020204" pitchFamily="34" charset="0"/>
              <a:buChar cha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Web APIs are used to retrieve data resources from a web application and allow the addition of new resources and the modification of existing resources.</a:t>
            </a:r>
          </a:p>
          <a:p>
            <a:pPr marL="342900" indent="-342900" algn="l">
              <a:buFont typeface="Arial" panose="020B0604020202020204" pitchFamily="34" charset="0"/>
              <a:buChar cha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Web APIs are used to build Web Services that are lightweight, maintainable, and easily scalable.</a:t>
            </a:r>
          </a:p>
          <a:p>
            <a:pPr marL="342900" indent="-342900" algn="l">
              <a:buFont typeface="Arial" panose="020B0604020202020204" pitchFamily="34" charset="0"/>
              <a:buChar cha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It can even be used to create RESTful web services. REST stands for </a:t>
            </a: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Representational State Transfer</a:t>
            </a: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indent="-342900" algn="l">
              <a:buFont typeface="Arial" panose="020B0604020202020204" pitchFamily="34" charset="0"/>
              <a:buChar cha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Web APIs help in easy communication of devices and web applications.</a:t>
            </a:r>
          </a:p>
          <a:p>
            <a:pPr marL="342900" indent="-342900" algn="l">
              <a:buFont typeface="Arial" panose="020B0604020202020204" pitchFamily="34" charset="0"/>
              <a:buChar cha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Web APIs are best to use when developers want to create resource-oriented services.</a:t>
            </a:r>
          </a:p>
          <a:p>
            <a:pPr marL="342900" indent="-342900" algn="l">
              <a:buFont typeface="Arial" panose="020B0604020202020204" pitchFamily="34" charset="0"/>
              <a:buChar char="•"/>
            </a:pP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It helps in the fast and efficient development of web services.</a:t>
            </a:r>
          </a:p>
        </p:txBody>
      </p:sp>
    </p:spTree>
    <p:extLst>
      <p:ext uri="{BB962C8B-B14F-4D97-AF65-F5344CB8AC3E}">
        <p14:creationId xmlns:p14="http://schemas.microsoft.com/office/powerpoint/2010/main" val="125454752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524000" y="114099"/>
            <a:ext cx="9144000" cy="787050"/>
          </a:xfrm>
        </p:spPr>
        <p:txBody>
          <a:bodyPr>
            <a:normAutofit fontScale="90000"/>
          </a:bodyPr>
          <a:lstStyle/>
          <a:p>
            <a:r>
              <a:rPr lang="en-GB" sz="5400" b="1" dirty="0"/>
              <a:t>RESTful Web services</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1192696" y="1020417"/>
            <a:ext cx="9780104" cy="4784035"/>
          </a:xfrm>
        </p:spPr>
        <p:txBody>
          <a:bodyPr>
            <a:normAutofit/>
          </a:bodyPr>
          <a:lstStyle/>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REST stands for </a:t>
            </a:r>
            <a:r>
              <a:rPr kumimoji="0" lang="en-GB" sz="2400" b="0" i="0" u="none" strike="noStrike" kern="1200" cap="none" spc="0" normalizeH="0" baseline="0" noProof="0" dirty="0" err="1">
                <a:ln>
                  <a:noFill/>
                </a:ln>
                <a:solidFill>
                  <a:prstClr val="black"/>
                </a:solidFill>
                <a:effectLst/>
                <a:uLnTx/>
                <a:uFillTx/>
                <a:latin typeface="Calibri" panose="020F0502020204030204"/>
                <a:ea typeface="+mn-ea"/>
                <a:cs typeface="+mn-cs"/>
              </a:rPr>
              <a:t>REpresentational</a:t>
            </a:r>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 State Transfer.</a:t>
            </a:r>
          </a:p>
          <a:p>
            <a:pPr algn="l"/>
            <a:endPar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REST is an architectural style not a protocol.</a:t>
            </a:r>
          </a:p>
          <a:p>
            <a:pPr algn="l"/>
            <a:endParaRPr lang="en-GB" dirty="0">
              <a:solidFill>
                <a:prstClr val="black"/>
              </a:solidFill>
              <a:latin typeface="Calibri" panose="020F0502020204030204"/>
            </a:endParaRPr>
          </a:p>
          <a:p>
            <a:pPr algn="l"/>
            <a:r>
              <a:rPr kumimoji="0" lang="en-GB" sz="2400" b="0" i="0" u="none" strike="noStrike" kern="1200" cap="none" spc="0" normalizeH="0" baseline="0" noProof="0" dirty="0">
                <a:ln>
                  <a:noFill/>
                </a:ln>
                <a:solidFill>
                  <a:prstClr val="black"/>
                </a:solidFill>
                <a:effectLst/>
                <a:uLnTx/>
                <a:uFillTx/>
                <a:latin typeface="Calibri" panose="020F0502020204030204"/>
                <a:ea typeface="+mn-ea"/>
                <a:cs typeface="+mn-cs"/>
              </a:rPr>
              <a:t>REST defines a set of architectural principles by which you can design Web services that focus on a system's resources, including how resource states are addressed and transferred over HTTP by a wide range of clients written in different languages.</a:t>
            </a:r>
          </a:p>
        </p:txBody>
      </p:sp>
    </p:spTree>
    <p:extLst>
      <p:ext uri="{BB962C8B-B14F-4D97-AF65-F5344CB8AC3E}">
        <p14:creationId xmlns:p14="http://schemas.microsoft.com/office/powerpoint/2010/main" val="156072064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524000" y="114099"/>
            <a:ext cx="9144000" cy="787050"/>
          </a:xfrm>
        </p:spPr>
        <p:txBody>
          <a:bodyPr>
            <a:normAutofit/>
          </a:bodyPr>
          <a:lstStyle/>
          <a:p>
            <a:r>
              <a:rPr lang="en-GB" sz="4400" b="1" dirty="0"/>
              <a:t>HTTP Protocols for RESTful Web services</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980661" y="1959866"/>
            <a:ext cx="9780104" cy="4784035"/>
          </a:xfrm>
        </p:spPr>
        <p:txBody>
          <a:bodyPr>
            <a:normAutofit/>
          </a:bodyPr>
          <a:lstStyle/>
          <a:p>
            <a:pPr marL="3200400" lvl="6" indent="-457200" algn="l">
              <a:buFont typeface="Arial" panose="020B0604020202020204" pitchFamily="34" charset="0"/>
              <a:buChar cha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HTTP GET </a:t>
            </a:r>
          </a:p>
          <a:p>
            <a:pPr marL="3200400" lvl="6" indent="-457200" algn="l">
              <a:buFont typeface="Arial" panose="020B0604020202020204" pitchFamily="34" charset="0"/>
              <a:buChar cha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HTTP POST </a:t>
            </a:r>
          </a:p>
          <a:p>
            <a:pPr marL="3200400" lvl="6" indent="-457200" algn="l">
              <a:buFont typeface="Arial" panose="020B0604020202020204" pitchFamily="34" charset="0"/>
              <a:buChar cha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HTTP PUT</a:t>
            </a:r>
          </a:p>
          <a:p>
            <a:pPr marL="3200400" lvl="6" indent="-457200" algn="l">
              <a:buFont typeface="Arial" panose="020B0604020202020204" pitchFamily="34" charset="0"/>
              <a:buChar char="•"/>
            </a:pP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HTTP DELETE </a:t>
            </a:r>
          </a:p>
        </p:txBody>
      </p:sp>
    </p:spTree>
    <p:extLst>
      <p:ext uri="{BB962C8B-B14F-4D97-AF65-F5344CB8AC3E}">
        <p14:creationId xmlns:p14="http://schemas.microsoft.com/office/powerpoint/2010/main" val="110061712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8CBFF-8215-4CED-BD35-12D2E0672FE7}"/>
              </a:ext>
            </a:extLst>
          </p:cNvPr>
          <p:cNvSpPr>
            <a:spLocks noGrp="1"/>
          </p:cNvSpPr>
          <p:nvPr>
            <p:ph type="ctrTitle"/>
          </p:nvPr>
        </p:nvSpPr>
        <p:spPr>
          <a:xfrm>
            <a:off x="1524000" y="114099"/>
            <a:ext cx="9144000" cy="787050"/>
          </a:xfrm>
        </p:spPr>
        <p:txBody>
          <a:bodyPr>
            <a:normAutofit/>
          </a:bodyPr>
          <a:lstStyle/>
          <a:p>
            <a:r>
              <a:rPr lang="en-GB" sz="4400" b="1" dirty="0"/>
              <a:t>HTTP Protocols for RESTful Web services</a:t>
            </a:r>
          </a:p>
        </p:txBody>
      </p:sp>
      <p:sp>
        <p:nvSpPr>
          <p:cNvPr id="3" name="Subtitle 2">
            <a:extLst>
              <a:ext uri="{FF2B5EF4-FFF2-40B4-BE49-F238E27FC236}">
                <a16:creationId xmlns:a16="http://schemas.microsoft.com/office/drawing/2014/main" id="{86EEFD63-C089-4514-AA73-BF121BE32B62}"/>
              </a:ext>
            </a:extLst>
          </p:cNvPr>
          <p:cNvSpPr>
            <a:spLocks noGrp="1"/>
          </p:cNvSpPr>
          <p:nvPr>
            <p:ph type="subTitle" idx="1"/>
          </p:nvPr>
        </p:nvSpPr>
        <p:spPr>
          <a:xfrm>
            <a:off x="291548" y="1959866"/>
            <a:ext cx="10469217" cy="4784035"/>
          </a:xfrm>
        </p:spPr>
        <p:txBody>
          <a:bodyPr>
            <a:normAutofit/>
          </a:bodyPr>
          <a:lstStyle/>
          <a:p>
            <a:pPr marL="914400" lvl="1" indent="-457200" algn="l">
              <a:buFont typeface="Arial" panose="020B0604020202020204" pitchFamily="34" charset="0"/>
              <a:buChar char="•"/>
            </a:pPr>
            <a:r>
              <a:rPr kumimoji="0" lang="en-GB" sz="3200" b="0" i="0" u="none" strike="noStrike" kern="1200" cap="none" spc="0" normalizeH="0" baseline="0" noProof="0" dirty="0">
                <a:ln>
                  <a:noFill/>
                </a:ln>
                <a:solidFill>
                  <a:prstClr val="black"/>
                </a:solidFill>
                <a:effectLst/>
                <a:uLnTx/>
                <a:uFillTx/>
                <a:latin typeface="Calibri" panose="020F0502020204030204"/>
                <a:ea typeface="+mn-ea"/>
                <a:cs typeface="+mn-cs"/>
              </a:rPr>
              <a:t>To create a resource on the server, use POST.</a:t>
            </a:r>
          </a:p>
          <a:p>
            <a:pPr marL="914400" lvl="1" indent="-457200" algn="l">
              <a:buFont typeface="Arial" panose="020B0604020202020204" pitchFamily="34" charset="0"/>
              <a:buChar char="•"/>
            </a:pPr>
            <a:r>
              <a:rPr kumimoji="0" lang="en-GB" sz="3200" b="0" i="0" u="none" strike="noStrike" kern="1200" cap="none" spc="0" normalizeH="0" baseline="0" noProof="0" dirty="0">
                <a:ln>
                  <a:noFill/>
                </a:ln>
                <a:solidFill>
                  <a:prstClr val="black"/>
                </a:solidFill>
                <a:effectLst/>
                <a:uLnTx/>
                <a:uFillTx/>
                <a:latin typeface="Calibri" panose="020F0502020204030204"/>
                <a:ea typeface="+mn-ea"/>
                <a:cs typeface="+mn-cs"/>
              </a:rPr>
              <a:t>To retrieve a resource, use GET.</a:t>
            </a:r>
          </a:p>
          <a:p>
            <a:pPr marL="914400" lvl="1" indent="-457200" algn="l">
              <a:buFont typeface="Arial" panose="020B0604020202020204" pitchFamily="34" charset="0"/>
              <a:buChar char="•"/>
            </a:pPr>
            <a:r>
              <a:rPr kumimoji="0" lang="en-GB" sz="3200" b="0" i="0" u="none" strike="noStrike" kern="1200" cap="none" spc="0" normalizeH="0" baseline="0" noProof="0" dirty="0">
                <a:ln>
                  <a:noFill/>
                </a:ln>
                <a:solidFill>
                  <a:prstClr val="black"/>
                </a:solidFill>
                <a:effectLst/>
                <a:uLnTx/>
                <a:uFillTx/>
                <a:latin typeface="Calibri" panose="020F0502020204030204"/>
                <a:ea typeface="+mn-ea"/>
                <a:cs typeface="+mn-cs"/>
              </a:rPr>
              <a:t>To change the state of a resource or to update it, use PUT.</a:t>
            </a:r>
          </a:p>
          <a:p>
            <a:pPr marL="914400" lvl="1" indent="-457200" algn="l">
              <a:buFont typeface="Arial" panose="020B0604020202020204" pitchFamily="34" charset="0"/>
              <a:buChar char="•"/>
            </a:pPr>
            <a:r>
              <a:rPr kumimoji="0" lang="en-GB" sz="3200" b="0" i="0" u="none" strike="noStrike" kern="1200" cap="none" spc="0" normalizeH="0" baseline="0" noProof="0" dirty="0">
                <a:ln>
                  <a:noFill/>
                </a:ln>
                <a:solidFill>
                  <a:prstClr val="black"/>
                </a:solidFill>
                <a:effectLst/>
                <a:uLnTx/>
                <a:uFillTx/>
                <a:latin typeface="Calibri" panose="020F0502020204030204"/>
                <a:ea typeface="+mn-ea"/>
                <a:cs typeface="+mn-cs"/>
              </a:rPr>
              <a:t>To remove or delete a resource, use DELETE.</a:t>
            </a:r>
          </a:p>
        </p:txBody>
      </p:sp>
    </p:spTree>
    <p:extLst>
      <p:ext uri="{BB962C8B-B14F-4D97-AF65-F5344CB8AC3E}">
        <p14:creationId xmlns:p14="http://schemas.microsoft.com/office/powerpoint/2010/main" val="249927453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2635</TotalTime>
  <Words>1009</Words>
  <Application>Microsoft Office PowerPoint</Application>
  <PresentationFormat>Widescreen</PresentationFormat>
  <Paragraphs>88</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 Web API</vt:lpstr>
      <vt:lpstr>What is API? </vt:lpstr>
      <vt:lpstr>WHAT ARE WEB APIS?</vt:lpstr>
      <vt:lpstr>FEATURES OF WEB API</vt:lpstr>
      <vt:lpstr>HTTP METHODS</vt:lpstr>
      <vt:lpstr>HTTP METHODS - HTTP GET </vt:lpstr>
      <vt:lpstr>HTTP METHODS - HTTP POST </vt:lpstr>
      <vt:lpstr>HTTP METHODS - HTTP PUT </vt:lpstr>
      <vt:lpstr>HTTP METHODS - HTTP DELETE </vt:lpstr>
      <vt:lpstr>HTTP METHODS - HTTP PATCH </vt:lpstr>
      <vt:lpstr>CONNECTING TO A WEB API</vt:lpstr>
      <vt:lpstr>CONNECTING TO A WEB API</vt:lpstr>
      <vt:lpstr>How the Codes work</vt:lpstr>
      <vt:lpstr>USES OF A WEB API</vt:lpstr>
      <vt:lpstr>RESTful Web services</vt:lpstr>
      <vt:lpstr>HTTP Protocols for RESTful Web services</vt:lpstr>
      <vt:lpstr>HTTP Protocols for RESTful Web services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HTML</dc:title>
  <dc:creator>Okonkwo, Chinedu</dc:creator>
  <cp:lastModifiedBy>Alex Maraga</cp:lastModifiedBy>
  <cp:revision>37</cp:revision>
  <dcterms:created xsi:type="dcterms:W3CDTF">2021-09-15T01:22:15Z</dcterms:created>
  <dcterms:modified xsi:type="dcterms:W3CDTF">2023-09-13T10:34:58Z</dcterms:modified>
</cp:coreProperties>
</file>